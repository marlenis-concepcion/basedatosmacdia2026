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a="http://schemas.openxmlformats.org/drawingml/2006/main" xmlns:ns3="http://schemas.microsoft.com/office/powerpoint/2012/main" xmlns:r="http://schemas.openxmlformats.org/officeDocument/2006/relationships" autoCompressPictures="0" embedTrueTypeFonts="1" strictFirstAndLastChars="0" saveSubsetFonts="1">
  <sldMasterIdLst>
    <sldMasterId id="2147483659" r:id="rId4"/>
  </sldMasterIdLst>
  <notesMasterIdLst>
    <notesMasterId r:id="rId5"/>
  </notesMasterIdLst>
  <sldIdLst>
    <sldId id="256" r:id="rId6"/>
    <sldId id="257" r:id="rId7"/>
    <sldId id="258" r:id="rId8"/>
    <sldId id="259" r:id="rId9"/>
    <sldId id="260" r:id="rId10"/>
    <sldId id="261" r:id="rId11"/>
    <sldId id="262" r:id="rId12"/>
    <sldId id="263" r:id="rId13"/>
    <sldId id="264" r:id="rId14"/>
    <sldId id="265" r:id="rId15"/>
    <sldId id="266" r:id="rId16"/>
    <sldId id="267" r:id="rId17"/>
    <sldId id="268" r:id="rId18"/>
    <sldId id="269" r:id="rId19"/>
    <sldId id="270" r:id="rId20"/>
    <sldId id="271" r:id="rId21"/>
    <sldId id="272" r:id="rId22"/>
    <sldId id="273" r:id="rId23"/>
    <sldId id="274" r:id="rId24"/>
    <sldId id="275" r:id="rId25"/>
    <sldId id="276" r:id="rId26"/>
    <sldId id="277" r:id="rId27"/>
  </sldIdLst>
  <sldSz cy="5143500" cx="9144000"/>
  <notesSz cx="6858000" cy="9144000"/>
  <embeddedFontLst>
    <embeddedFont>
      <font typeface="Century Gothic"/>
      <regular r:id="rId51"/>
      <bold r:id="rId52"/>
      <italic r:id="rId53"/>
      <boldItalic r:id="rId54"/>
    </embeddedFont>
  </embeddedFontLst>
  <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defaultTextStyle>
  <extLst>
    <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enturyGothic-regular.fntdata"/><Relationship Id="rId50" Type="http://schemas.openxmlformats.org/officeDocument/2006/relationships/slide" Target="slides/slide45.xml"/><Relationship Id="rId53" Type="http://schemas.openxmlformats.org/officeDocument/2006/relationships/font" Target="fonts/CenturyGothic-italic.fntdata"/><Relationship Id="rId52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385b339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385b339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d681d98b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d681d98b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d681d98b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d681d98b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f0e5e909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f0e5e909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f0e5e909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f0e5e909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e52e80d9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4e52e80d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e52e80d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4e52e80d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e52e80d9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e52e80d9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e52e80d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e52e80d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e52e80d9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e52e80d9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e52e80d9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e52e80d9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e52e80d9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e52e80d9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e52e80d9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e52e80d9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e52e80d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4e52e80d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3ea2dbf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e3ea2dbf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3ea2dbf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e3ea2dbf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3ea2dbf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e3ea2dbf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3ea2dbf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3ea2dbf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3ea2dbfa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e3ea2dbfa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e3ea2dbfa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e3ea2dbf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3f2da46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e3f2da46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3f2da466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3f2da46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e3f2da46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e3f2da46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3f2da466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3f2da46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3f2da46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e3f2da46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e3f2da466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e3f2da466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e3f2da466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e3f2da466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e3f2da466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e3f2da466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3f2da466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e3f2da466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3f2da466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3f2da466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3f2da466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e3f2da466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59a461c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159a461c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4e52e80d9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4e52e80d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a81c456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0a81c456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0a81c456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0a81c456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4e52e80d9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4e52e80d9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159a461c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159a461c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4e52e80d9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4e52e80d9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e47b5b57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e47b5b57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e47b5b57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e47b5b57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4e52e80d9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4e52e80d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4d681d98b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4d681d98b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8d2f9f3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8d2f9f3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159a461c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159a461c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3" Type="http://schemas.openxmlformats.org/officeDocument/2006/relationships/image" Target="../media/image1.jpg" /><ns0:Relationship Id="rId4" Type="http://schemas.openxmlformats.org/officeDocument/2006/relationships/image" Target="../media/image4.jp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Relationship Id="rId4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razonamientoclinico.es/mejora-continua-docencia-importancia-retroalimentacion-evaluacion/" TargetMode="External"/><Relationship Id="rId4" Type="http://schemas.openxmlformats.org/officeDocument/2006/relationships/hyperlink" Target="https://campusvirtual.unex.es/bbcswebdav/pid-2750975-dt-content-rid-9502653_1/courses/19-20/IN59D5-IUUD8-Docencia%20en%20contenidos%20digitales/Teoria/sesion_5.pdf" TargetMode="External"/><Relationship Id="rId5" Type="http://schemas.openxmlformats.org/officeDocument/2006/relationships/hyperlink" Target="https://www.unir.net/educacion/revista/noticias/el-papel-de-la-retroalimentacion-en-la-mejora-continua-de-la-ensenanza/406574198798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educoas.org/portal/bdigital/contenido/val/val_95/Mejora_continua_en_la_docencia.pdf" TargetMode="External"/><Relationship Id="rId4" Type="http://schemas.openxmlformats.org/officeDocument/2006/relationships/hyperlink" Target="https://educacion2.com/importancia-de-la-retroalimentacion-en-el-proceso-de-ensenanza-aprendizaje/" TargetMode="External"/><Relationship Id="rId5" Type="http://schemas.openxmlformats.org/officeDocument/2006/relationships/hyperlink" Target="https://www.youtube.com/live/OZeDMK3Hc4c?si=f8CXUUFZlv_K01G0" TargetMode="External"/><Relationship Id="rId6" Type="http://schemas.openxmlformats.org/officeDocument/2006/relationships/hyperlink" Target="https://www.youtube.com/live/S9BUjJw_RHY?si=ig4js2U9ocqYdnRw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gif"/><Relationship Id="rId4" Type="http://schemas.openxmlformats.org/officeDocument/2006/relationships/hyperlink" Target="https://www.linkedin.com/in/marlenis-judith-c-561117a3/" TargetMode="External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nvGrpSpPr>
        <cNvPr id="53" name="Shape 53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54" name="Google Shape;54;p13"/>
          <cNvPicPr preferRelativeResize="0"/>
          <nvPr/>
        </nvPicPr>
        <blipFill rotWithShape="1">
          <a:blip r:embed="rId3">
            <a:alphaModFix/>
          </a:blip>
          <a:srcRect b="0" l="0" r="0" t="0"/>
          <a:stretch/>
        </blipFill>
        <spPr>
          <a:xfrm>
            <a:off x="234472" y="199352"/>
            <a:ext cx="1182624" cy="1290827"/>
          </a:xfrm>
          <a:prstGeom prst="rect">
            <a:avLst/>
          </a:prstGeom>
          <a:noFill/>
          <a:ln>
            <a:noFill/>
          </a:ln>
        </spPr>
      </pic>
      <pic>
        <nvPicPr>
          <cNvPr id="55" name="Google Shape;55;p13"/>
          <cNvPicPr preferRelativeResize="0"/>
          <nvPr/>
        </nvPicPr>
        <blipFill rotWithShape="1">
          <a:blip r:embed="rId4">
            <a:alphaModFix/>
          </a:blip>
          <a:srcRect b="0" l="0" r="0" t="0"/>
          <a:stretch/>
        </blipFill>
        <spPr>
          <a:xfrm>
            <a:off x="7574150" y="160400"/>
            <a:ext cx="1065580" cy="1207008"/>
          </a:xfrm>
          <a:prstGeom prst="rect">
            <a:avLst/>
          </a:prstGeom>
          <a:noFill/>
          <a:ln>
            <a:noFill/>
          </a:ln>
        </spPr>
      </pic>
      <sp>
        <nvSpPr>
          <cNvPr id="56" name="Google Shape;56;p13"/>
          <cNvSpPr txBox="1"/>
          <nvPr/>
        </nvSpPr>
        <spPr>
          <a:xfrm>
            <a:off x="1616425" y="392700"/>
            <a:ext cx="5871000" cy="4926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UNIVERSIDAD AUTONOMA DE SANTO DOMINGO</a:t>
            </a:r>
            <a:endParaRPr b="1" sz="500">
              <a:latin typeface="Courier New"/>
              <a:ea typeface="Courier New"/>
              <a:cs typeface="Courier New"/>
              <a:sym typeface="Courier New"/>
            </a:endParaRPr>
          </a:p>
        </txBody>
      </sp>
      <sp>
        <nvSpPr>
          <cNvPr id="57" name="Google Shape;57;p13"/>
          <cNvSpPr txBox="1"/>
          <nvPr/>
        </nvSpPr>
        <spPr>
          <a:xfrm>
            <a:off x="2551625" y="766325"/>
            <a:ext cx="4481100" cy="338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Primada de America  |  Fundada el 28 de octubre de 1538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txBody>
      </sp>
      <sp>
        <nvSpPr>
          <cNvPr id="58" name="Google Shape;58;p13"/>
          <cNvSpPr txBox="1"/>
          <nvPr/>
        </nvSpPr>
        <spPr>
          <a:xfrm flipH="1">
            <a:off x="114875" y="2089625"/>
            <a:ext cx="8263800" cy="8004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ACTIVIDAD 4.2: SISTEMA DE SEGURO DE VEHICULOS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Desarrollo completo en SQL Server - DDL / DML / DQL</a:t>
            </a:r>
            <a:endParaRPr b="1" sz="2000"/>
          </a:p>
        </txBody>
      </sp>
      <sp>
        <nvSpPr>
          <cNvPr id="59" name="Google Shape;59;p13"/>
          <cNvSpPr txBox="1"/>
          <nvPr/>
        </nvSpPr>
        <spPr>
          <a:xfrm>
            <a:off x="6821425" y="4322875"/>
            <a:ext cx="1818300" cy="461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Century Gothic"/>
                <a:ea typeface="Century Gothic"/>
                <a:cs typeface="Century Gothic"/>
                <a:sym typeface="Century Gothic"/>
              </a:rPr>
              <a:t>Base de Datos I  |  INF-8236-C2  |  Grupo 7  |  Abril 2026</a:t>
            </a:r>
            <a:endParaRPr b="1" sz="1000">
              <a:latin typeface="Century Gothic"/>
              <a:ea typeface="Century Gothic"/>
              <a:cs typeface="Century Gothic"/>
              <a:sym typeface="Century Gothic"/>
            </a:endParaRPr>
          </a:p>
        </txBody>
      </sp>
      <sp>
        <nvSpPr>
          <cNvPr id="61" name="Google Shape;61;p13"/>
          <cNvSpPr txBox="1"/>
          <nvPr/>
        </nvSpPr>
        <spPr>
          <a:xfrm>
            <a:off x="921250" y="4094375"/>
            <a:ext cx="2283300" cy="461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rgbClr val="1155CC"/>
                </a:solidFill>
              </a:rPr>
              <a:t>Mannix  -  Byas  -  Victor  -  Marlenis Concepcion</a:t>
            </a:r>
            <a:endParaRPr b="1" sz="1800" u="sng">
              <a:solidFill>
                <a:srgbClr val="1155CC"/>
              </a:solidFill>
            </a:endParaRPr>
          </a:p>
        </txBody>
      </sp>
    </spTree>
  </cSld>
  <clrMapOvr>
    <a:masterClrMapping/>
  </clrMapOvr>
</sld>
</file>

<file path=ppt/slides/slide2.xml><?xml version="1.0" encoding="utf-8"?>
<sld xmlns="http://schemas.openxmlformats.org/presentationml/2006/main" xmlns:a="http://schemas.openxmlformats.org/drawingml/2006/main">
  <cSld>
    <spTree>
      <nvGrpSpPr>
        <cNvPr id="65" name="Shape 6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66" name="Google Shape;66;p14"/>
          <cNvSpPr txBox="1"/>
          <nvPr/>
        </nvSpPr>
        <spPr>
          <a:xfrm>
            <a:off x="2887550" y="169525"/>
            <a:ext cx="3488700" cy="477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Grupo 7  -  Integrantes</a:t>
            </a:r>
            <a:endParaRPr b="1" sz="1900"/>
          </a:p>
        </txBody>
      </sp>
      <sp>
        <nvSpPr>
          <cNvPr id="67" name="Google Shape;67;p14"/>
          <cNvSpPr txBox="1"/>
          <nvPr/>
        </nvSpPr>
        <spPr>
          <a:xfrm>
            <a:off x="115825" y="922225"/>
            <a:ext cx="5070900" cy="22164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Mannix        -&gt;  Seccion I: Descripcion del sistema y arquitectura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Byas          -&gt;  Seccion II: DDL - Definicion de datos y restricciones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Victor        -&gt;  Seccion III: DML - INSERT, UPDATE y DELETE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Marlenis      -&gt;  Seccion IV: DQL - 20 consultas SQL avanzadas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Todos         -&gt;  Resultados, diccionario y conclusiones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/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Asignatura: Base de Datos I  |  INF-8236-C2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Tutora: [Nombre de la tutora]  |  Abril 2026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</txBody>
      </sp>
    </spTree>
  </cSld>
  <clrMapOvr>
    <a:masterClrMapping/>
  </clrMapOvr>
</sld>
</file>

<file path=ppt/slides/slide3.xml><?xml version="1.0" encoding="utf-8"?>
<sld xmlns="http://schemas.openxmlformats.org/presentationml/2006/main" xmlns:a="http://schemas.openxmlformats.org/drawingml/2006/main">
  <cSld>
    <spTree>
      <nvGrpSpPr>
        <cNvPr id="72" name="Shape 72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73" name="Google Shape;73;p15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</a:t>
            </a:r>
            <a:endParaRPr b="1" sz="1900"/>
          </a:p>
        </txBody>
      </sp>
      <sp>
        <nvSpPr>
          <cNvPr id="74" name="Google Shape;74;p15"/>
          <cNvSpPr txBox="1"/>
          <nvPr/>
        </nvSpPr>
        <spPr>
          <a:xfrm>
            <a:off x="943775" y="1199000"/>
            <a:ext cx="7054500" cy="26166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Descripcion del Sistema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Arquitectura de la base de datos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12 tablas interconectadas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SQL Server - 3 capas: DDL, DML, DQL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Mannix</a:t>
            </a:r>
            <a:endParaRPr b="1" sz="1700">
              <a:solidFill>
                <a:schemeClr val="dk1"/>
              </a:solidFill>
            </a:endParaRPr>
          </a:p>
        </txBody>
      </sp>
      <sp>
        <nvSpPr>
          <cNvPr id="75" name="Google Shape;75;p15"/>
          <cNvSpPr txBox="1"/>
          <nvPr/>
        </nvSpPr>
        <spPr>
          <a:xfrm>
            <a:off x="3928700" y="4385325"/>
            <a:ext cx="4643700" cy="4002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Arquitectura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BD</a:t>
            </a:r>
            <a:endParaRPr b="1">
              <a:solidFill>
                <a:srgbClr val="FF0000"/>
              </a:solidFill>
            </a:endParaRPr>
          </a:p>
        </txBody>
      </sp>
    </spTree>
  </cSld>
  <clrMapOvr>
    <a:masterClrMapping/>
  </clrMapOvr>
</sld>
</file>

<file path=ppt/slides/slide4.xml><?xml version="1.0" encoding="utf-8"?>
<sld xmlns="http://schemas.openxmlformats.org/presentationml/2006/main" xmlns:a="http://schemas.openxmlformats.org/drawingml/2006/main">
  <cSld>
    <spTree>
      <nvGrpSpPr>
        <cNvPr id="117" name="Shape 117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18" name="Google Shape;118;p22"/>
          <cNvSpPr txBox="1"/>
          <nvPr/>
        </nvSpPr>
        <spPr>
          <a:xfrm>
            <a:off x="788675" y="897450"/>
            <a:ext cx="8206500" cy="3370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Sistema de Seguro de Vehiculos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Base de datos relacional en SQL Server para gestionar operaciones de una aseguradora automotriz.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Registra clientes, vehiculos, agentes, coberturas, polizas, facturas, pagos, siniestros y evaluaciones.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Implementa las tres fases del lenguaje SQL: DDL, DML y DQL.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Incluye 12 tablas con restricciones de integridad completas.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Datos reales simulados: 10 clientes, 12 vehiculos, 20 polizas, 25 pagos, 20 siniestros.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Presentacion de clase domingo 19 de abril de 2026.</a:t>
            </a:r>
            <a:endParaRPr b="1" sz="19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5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Tablas Maestras del Sistema (5)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Tipo_Vehiculo: 10 categorias con tarifa base (Sedan, SUV, Pickup, Motocicleta, etc.)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Cliente: 10 asegurados dominicanos con cedula, email y fecha de nacimiento.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Agente: 10 ejecutivos de ventas con porcentaje de comision.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Cobertura: 10 planes desde SOAT (RD$3,000) hasta Todo Riesgo (RD$35,000).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Taller: 10 talleres autorizados en Santo Domingo, Santiago y La Romana.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6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Tablas Transaccionales del Sistema (7)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Vehiculo: 12 vehiculos (Toyota, Honda, Hyundai, Tesla, Yamaha, Ford...)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Solicitud_Cotizacion_Poliza: 20 solicitudes aprobadas, base de cada poliza.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Poliza: 20 contratos con estado Activa (14), Vencida (4), Cancelada (2).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Factura_Poliza: 20 facturas (Pagada, Entregada, Registrada).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Pagos: 25 transacciones con montos entre RD$3,000 y RD$35,000.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Siniestro: 20 eventos (Colision, Robo, Incendio, Inundacion, Vandalismo).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Evaluacion_Siniestro: 20 dictamenes tecnicos de talleres autorizados.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7.xml><?xml version="1.0" encoding="utf-8"?>
<sld xmlns="http://schemas.openxmlformats.org/presentationml/2006/main" xmlns:a="http://schemas.openxmlformats.org/drawingml/2006/main">
  <cSld>
    <spTree>
      <nvGrpSpPr>
        <cNvPr id="148" name="Shape 148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49" name="Google Shape;149;p27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II</a:t>
            </a:r>
            <a:endParaRPr b="1" sz="1900"/>
          </a:p>
        </txBody>
      </sp>
      <sp>
        <nvSpPr>
          <cNvPr id="150" name="Google Shape;150;p27"/>
          <cNvSpPr txBox="1"/>
          <nvPr/>
        </nvSpPr>
        <spPr>
          <a:xfrm>
            <a:off x="1038125" y="817925"/>
            <a:ext cx="6708600" cy="3601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DDL - Definicion de Datos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CREATE DATABASE, CREATE TABLE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PK, FK, UNIQUE, CHECK, DEFAULT, NOT NULL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12 tablas con integridad referencial completa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Byas</a:t>
            </a:r>
            <a:endParaRPr b="1" sz="1700">
              <a:solidFill>
                <a:schemeClr val="dk1"/>
              </a:solidFill>
            </a:endParaRPr>
          </a:p>
        </txBody>
      </sp>
      <sp>
        <nvSpPr>
          <cNvPr id="151" name="Google Shape;151;p27"/>
          <cNvSpPr txBox="1"/>
          <nvPr/>
        </nvSpPr>
        <spPr>
          <a:xfrm>
            <a:off x="6089000" y="4530825"/>
            <a:ext cx="2912100" cy="4002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Data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Definition</a:t>
            </a:r>
            <a:endParaRPr b="1">
              <a:solidFill>
                <a:srgbClr val="FF0000"/>
              </a:solidFill>
            </a:endParaRPr>
          </a:p>
        </txBody>
      </sp>
    </spTree>
  </cSld>
  <clrMapOvr>
    <a:masterClrMapping/>
  </clrMapOvr>
</sld>
</file>

<file path=ppt/slides/slide8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Restricciones CHECK obligatorias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Edad del cliente &gt;= 18 anos:  CHECK (DATEDIFF(YEAR, Fecha_Nacimiento, GETDATE()) &gt;= 18)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Estado_Poliza:  CHECK (Estado_Poliza IN ('Activa', 'Vencida', 'Cancelada'))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Estado_Factura:  CHECK (Estado_Factura IN ('Registrada','Entregada','Pagada','Anulada'))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Monto de pago &gt; 0:  CHECK (Monto &gt; 0)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Tarifa_Base &gt; 0:  CHECK (Tarifa_Base &gt; 0)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Prima_Anual &gt; 0:  CHECK (Prima_Anual &gt; 0)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Deducible &gt;= 0:  CHECK (Deducible &gt;= 0)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Fecha_Vencimiento &gt; Fecha_Emision:  CHECK (Fecha_Vencimiento &gt; Fecha_Emision)</a:t>
            </a:r>
            <a:endParaRPr/>
          </a:p>
        </txBody>
      </sp>
    </spTree>
  </cSld>
  <clrMapOvr>
    <a:masterClrMapping/>
  </clrMapOvr>
</sld>
</file>

<file path=ppt/slides/slide9.xml><?xml version="1.0" encoding="utf-8"?>
<sld xmlns="http://schemas.openxmlformats.org/presentationml/2006/main" xmlns:a="http://schemas.openxmlformats.org/drawingml/2006/main">
  <cSld>
    <spTree>
      <nvGrpSpPr>
        <cNvPr id="311" name="Shape 311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12" name="Google Shape;312;p56"/>
          <cNvSpPr txBox="1"/>
          <nvPr/>
        </nvSpPr>
        <spPr>
          <a:xfrm>
            <a:off x="560775" y="805450"/>
            <a:ext cx="7651200" cy="3632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Claves Primarias, Foraneas y Unicidad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12 Claves Primarias (PK): una por tabla, IDENTITY(1,1) para auto-incremento.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17 Claves Foraneas (FK): garantizan integridad referencial entre tablas relacionadas.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Ejemplos FK: Poliza -&gt; Cliente, Vehiculo, Agente, Cobertura, Solicitud.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UNIQUE en Cedula, Email, Placa, VIN, Numero_Poliza, Numero_Factura, Numero_Siniestro.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DEFAULT: Ciudad='Santo Domingo', Activo=1, Fecha_Registro=GETDATE(), Estado='Activa'.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NOT NULL: garantiza que ningun campo critico quede vacio.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DROP TABLE en orden inverso para respetar las FK al reejecutar el script.</a:t>
            </a:r>
            <a:endParaRPr/>
          </a:p>
        </txBody>
      </sp>
    </spTree>
  </cSld>
  <clrMapOvr>
    <a:masterClrMapping/>
  </clrMapOvr>
</sld>
</file>

<file path=ppt/slides/slide10.xml><?xml version="1.0" encoding="utf-8"?>
<sld xmlns="http://schemas.openxmlformats.org/presentationml/2006/main" xmlns:a="http://schemas.openxmlformats.org/drawingml/2006/main">
  <cSld>
    <spTree>
      <nvGrpSpPr>
        <cNvPr id="256" name="Shape 25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57" name="Google Shape;257;p46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III</a:t>
            </a:r>
            <a:endParaRPr b="1" sz="1900"/>
          </a:p>
        </txBody>
      </sp>
      <sp>
        <nvSpPr>
          <cNvPr id="258" name="Google Shape;258;p46"/>
          <cNvSpPr txBox="1"/>
          <nvPr/>
        </nvSpPr>
        <spPr>
          <a:xfrm>
            <a:off x="1038125" y="817925"/>
            <a:ext cx="6708600" cy="3047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DML - Manipulacion de Datos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INSERT: datos suficientes para simular sistema real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UPDATE: 5 ejercicios de actualizacion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DELETE: 5 ejercicios de eliminacion controlada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Victor</a:t>
            </a:r>
            <a:endParaRPr b="1" sz="17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1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INSERT - Datos insertados en el sistema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Tablas maestras: 10 registros cada una (Tipo_Vehiculo, Cliente, Agente, Cobertura, Taller).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Vehiculos: 12 registros - Toyota Corolla, Honda CR-V, Tesla Model 3, Yamaha MT-15...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Polizas: 20 contratos activos/vencidos con primas entre RD$3,000 y RD$35,000.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Facturas: 20 documentos de cobro en estados Pagada, Entregada y Registrada.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Pagos: 25 transacciones via Transferencia, Tarjeta, Efectivo y Cheque.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Siniestros: 20 eventos; Vehiculo 1 (Toyota Corolla) con 4 siniestros registrados.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Evaluaciones: 20 dictamenes tecnicos con monto aprobado por taller autorizado.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2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UPDATE - 5 ejercicios de actualizacion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Direccion de cliente: Jose Manuel Martinez -&gt; Torre Empresarial, Piantini.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2. Estado de poliza: POL-2025-0003 cambia de 'Activa' a 'Vencida'.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3. Cobertura de poliza: POL-2025-0005 sube de Terceros a Todo Riesgo (+RD$27,000).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4. Monto de pago: ID=10 corregido de RD$5,000 a RD$5,500 segun recibo oficial.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5. Datos de vehiculo: Honda Civic cambia de color Blanco a Gris Metalico.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Cada UPDATE usa WHERE preciso para afectar solo la fila deseada.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Los CHECK constraints validan los nuevos valores automaticamente.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3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DELETE - 5 ejercicios de eliminacion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1. Cliente inactivo: eliminado por Activo=0 y sin polizas ni vehiculos.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2. Poliza cancelada: POL-TEST-CANCEL eliminada (primero poliza, luego solicitud por FK).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3. Siniestro duplicado: SIN-DUP-0001 eliminado, registro redundante del mismo evento.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4. Pago erroneo: referencia ERR-0099 eliminada, monto incorrecto de RD$999.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5. Taller de prueba: 'Taller de Prueba - ELIMINAR' quitado del catalogo.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REGLA CLAVE: eliminar primero las tablas hijas, luego las padres (respetar FK).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Los registros de prueba se insertan justo antes del DELETE para demostracion.</a:t>
            </a:r>
            <a:endParaRPr/>
          </a:p>
        </txBody>
      </sp>
    </spTree>
  </cSld>
  <clrMapOvr>
    <a:masterClrMapping/>
  </clrMapOvr>
</sld>
</file>

<file path=ppt/slides/slide14.xml><?xml version="1.0" encoding="utf-8"?>
<sld xmlns="http://schemas.openxmlformats.org/presentationml/2006/main" xmlns:a="http://schemas.openxmlformats.org/drawingml/2006/main">
  <cSld>
    <spTree>
      <nvGrpSpPr>
        <cNvPr id="272" name="Shape 272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73" name="Google Shape;273;p49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IV</a:t>
            </a:r>
            <a:endParaRPr b="1" sz="1900"/>
          </a:p>
        </txBody>
      </sp>
      <sp>
        <nvSpPr>
          <cNvPr id="274" name="Google Shape;274;p49"/>
          <cNvSpPr txBox="1"/>
          <nvPr/>
        </nvSpPr>
        <spPr>
          <a:xfrm>
            <a:off x="1038125" y="817925"/>
            <a:ext cx="6708600" cy="41559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DQL - Consultas SQL Avanzadas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20 consultas estructuradas y optimizadas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Basicas, WHERE, ORDER BY, Agregacion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GROUP BY, HAVING, JOINs, Subconsultas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Marlenis</a:t>
            </a:r>
            <a:endParaRPr b="1" sz="17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5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Consultas 1 a 6: SELECT basico, WHERE, ORDER BY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C1: SELECT * FROM Cliente ORDER BY Apellido, Nombre  -&gt; 10 filas.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C2: SELECT * FROM Vehiculo ORDER BY Marca, Modelo  -&gt; 12 filas.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C3: Clientes con polizas Activas (INNER JOIN + WHERE Estado_Poliza='Activa')  -&gt; 9 clientes.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C4: Vehiculos con Anio &gt; 2019 (WHERE + JOIN Tipo_Vehiculo)  -&gt; 9 vehiculos.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C5: Pagos ordenados por Monto DESC  -&gt; 25 filas, mayor: RD$35,000.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C6: Clientes ORDER BY Apellido ASC  -&gt; de Capellan Rosario a Vargas Taveras.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6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Consultas 7 a 10: Funciones de Agregacion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C7: SUM(Monto)  -&gt;  Total_Pagado_RD = RD$ 377,500.00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C8: COUNT(*)    -&gt;  Total_Polizas = 20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C9: AVG(Monto)  -&gt;  Promedio_Pagos_RD = RD$ 15,100.00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C10: MIN/MAX    -&gt;  Minimo = RD$3,000  |  Maximo = RD$35,000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Estas funciones son clave para analisis financiero y toma de decisiones.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SUM permite calcular la recaudacion total; AVG identifica la prima promedio.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MIN/MAX ayudan a detectar rangos extremos en la cartera de pagos.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7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Consultas 11 a 14: GROUP BY y HAVING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C11: Polizas por cliente (GROUP BY)  -&gt; Martinez: 3, Garcia: 3, resto: 2 c/u.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C12: Total pagado por cliente (SUM + GROUP BY)  -&gt; Martinez: RD$78,000 lider.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C13: Clientes con MAS de 2 polizas (HAVING COUNT &gt; 2)  -&gt; 2 clientes.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C14: Clientes con total pagado &gt; RD$40,000 (HAVING SUM &gt; 40000)  -&gt; 5 clientes.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DIFERENCIA CLAVE: WHERE filtra filas individuales antes del GROUP BY.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HAVING filtra grupos ya calculados DESPUES del GROUP BY.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Ambas clausulas son indispensables en reportes financieros y estadisticos.</a:t>
            </a:r>
            <a:endParaRPr/>
          </a:p>
        </txBody>
      </sp>
    </spTree>
  </cSld>
  <clrMapOvr>
    <a:masterClrMapping/>
  </clrMapOvr>
</sld>
</file>

<file path=ppt/slides/slide18.xml><?xml version="1.0" encoding="utf-8"?>
<sld xmlns="http://schemas.openxmlformats.org/presentationml/2006/main" xmlns:a="http://schemas.openxmlformats.org/drawingml/2006/main">
  <cSld>
    <spTree>
      <nvGrpSpPr>
        <cNvPr id="311" name="Shape 311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12" name="Google Shape;312;p56"/>
          <cNvSpPr txBox="1"/>
          <nvPr/>
        </nvSpPr>
        <spPr>
          <a:xfrm>
            <a:off x="560775" y="805450"/>
            <a:ext cx="7651200" cy="3632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Consultas 15 a 18: Los cuatro tipos de JOIN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C15: INNER JOIN (Cliente + Poliza + Cobertura)  -&gt; 20 filas, solo clientes con poliza.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C16: LEFT JOIN (Cliente LEFT Poliza)  -&gt; 30 filas; Luz Maria aparece con NULLs.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C17: RIGHT JOIN (Cliente RIGHT Poliza)  -&gt; 20 filas; garantiza ver todas las polizas.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C18: FULL OUTER JOIN  -&gt; 31 filas; combina todo con ISNULL para NULLs.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INNER: solo coincidencias exactas en ambas tablas.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LEFT: todos los de la izquierda, NULL donde no hay coincidencia a la derecha.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FULL: todos de ambos lados, revelando registros huerfanos en cualquier tabla.</a:t>
            </a:r>
            <a:endParaRPr/>
          </a:p>
        </txBody>
      </sp>
    </spTree>
  </cSld>
  <clrMapOvr>
    <a:masterClrMapping/>
  </clrMapOvr>
</sld>
</file>

<file path=ppt/slides/slide19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Consultas 19 y 20: Subconsultas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C19: Pagos mayores al promedio general: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WHERE Monto &gt; (SELECT AVG(Monto) FROM Pagos)  -&gt;  8 pagos &gt; RD$15,100.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Clientes con pagos sobre el promedio: Martinez, Garcia, Medina, Jimenez, Vargas.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C20: Vehiculo con mayor numero de siniestros: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Subconsulta anidada con MAX(COUNT) dentro de tabla derivada.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Resultado: Toyota Corolla (Placa A123456, Jose Manuel Martinez) con 4 siniestros.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Las subconsultas permiten comparaciones dinamicas sin valores codificados.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20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Resultados y metricas del sistema simulado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Total recaudado en primas:     RD$ 377,500.00  (25 pagos registrados)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Promedio de prima pagada:      RD$  15,100.00  por transaccion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Polizas activas vigentes:       14 de 20 (70% de la cartera activa)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Cliente con mas polizas:        Jose Manuel Martinez (3 polizas)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Vehiculo de mayor riesgo:       Toyota Corolla A123456 (4 siniestros)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Cobertura mas contratada:       Todo Riesgo - RD$35,000/ano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Cliente sin poliza activa:      Luz Maria Capellan Rosario (detectado via LEFT JOIN)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Clientes con pago total &gt; RD$40,000:   5 de 9 clientes activos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21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Diccionario de Datos - Resumen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Logico: describe cada entidad desde el negocio (que, para que, reglas).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Fisico: tipos SQL, tamano, nulabilidad, default y restricciones de cada columna.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Ejemplo - Tabla Cliente: 11 atributos, CHECK edad &gt;= 18, UNIQUE en cedula y email.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Ejemplo - Tabla Poliza: 13 atributos, 5 FK, CHECK en Estado y Prima, UNIQUE en numero.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Ejemplo - Tabla Pagos: 8 atributos, CHECK Monto &gt; 0, CHECK Metodo_Pago IN lista.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Ejemplo - Tabla Siniestro: 11 atributos, CHECK Tipo IN lista, CHECK Estado IN lista.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diccionario completo (logico + fisico) esta incluido en el documento PDF.</a:t>
            </a:r>
            <a:endParaRPr/>
          </a:p>
        </txBody>
      </sp>
    </spTree>
  </cSld>
  <clrMapOvr>
    <a:masterClrMapping/>
  </clrMapOvr>
</sld>
</file>

<file path=ppt/slides/slide22.xml><?xml version="1.0" encoding="utf-8"?>
<sld xmlns="http://schemas.openxmlformats.org/presentationml/2006/main" xmlns:a="http://schemas.openxmlformats.org/drawingml/2006/main">
  <cSld>
    <spTree>
      <nvGrpSpPr>
        <cNvPr id="300" name="Shape 30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1" name="Google Shape;301;p54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V</a:t>
            </a:r>
            <a:endParaRPr b="1" sz="1900"/>
          </a:p>
        </txBody>
      </sp>
      <sp>
        <nvSpPr>
          <cNvPr id="302" name="Google Shape;302;p54"/>
          <cNvSpPr txBox="1"/>
          <nvPr/>
        </nvSpPr>
        <spPr>
          <a:xfrm>
            <a:off x="967325" y="1085325"/>
            <a:ext cx="6708600" cy="36633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Conclusiones - Grupo 7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SQL es el lenguaje fundamental para modelar, poblar y consultar datos reales.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Las restricciones CHECK, FK y UNIQUE son la primera linea de defensa de la integridad.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GROUP BY + HAVING y los JOINs son las herramientas mas potentes para analisis.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El diseno correcto del esquema DDL define la calidad de todo el sistema.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Mannix  |  Byas  |  Victor  |  Marlenis</a:t>
            </a:r>
            <a:endParaRPr b="1" sz="19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25" y="68075"/>
            <a:ext cx="2127250" cy="29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775" y="448100"/>
            <a:ext cx="4476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9075" y="2807350"/>
            <a:ext cx="1984775" cy="218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4750" y="2717713"/>
            <a:ext cx="2165667" cy="23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1625"/>
            <a:ext cx="8839200" cy="218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00" y="250675"/>
            <a:ext cx="6028775" cy="16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00" y="2412925"/>
            <a:ext cx="2973850" cy="20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450" y="2766199"/>
            <a:ext cx="3825399" cy="15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875" y="212900"/>
            <a:ext cx="783623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8375"/>
            <a:ext cx="8839199" cy="1954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7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50" y="107000"/>
            <a:ext cx="3754026" cy="15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875" y="0"/>
            <a:ext cx="3837324" cy="19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5975" y="2170875"/>
            <a:ext cx="2127825" cy="28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9399" y="2511238"/>
            <a:ext cx="2563875" cy="21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50" y="1650075"/>
            <a:ext cx="8839199" cy="211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150" y="152400"/>
            <a:ext cx="365891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4425"/>
            <a:ext cx="8839197" cy="207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/>
        </p:nvSpPr>
        <p:spPr>
          <a:xfrm>
            <a:off x="2493750" y="311575"/>
            <a:ext cx="41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/>
              <a:t>Preguntas</a:t>
            </a:r>
            <a:endParaRPr b="1" sz="1700"/>
          </a:p>
        </p:txBody>
      </p:sp>
      <p:pic>
        <p:nvPicPr>
          <p:cNvPr id="252" name="Google Shape;2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175" y="1146625"/>
            <a:ext cx="4668975" cy="31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</a:t>
            </a:r>
            <a:r>
              <a:rPr b="1" lang="es" sz="1900"/>
              <a:t>III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58" name="Google Shape;258;p46"/>
          <p:cNvSpPr txBox="1"/>
          <p:nvPr/>
        </p:nvSpPr>
        <p:spPr>
          <a:xfrm>
            <a:off x="1038125" y="817925"/>
            <a:ext cx="6708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Métodos de enseñanza ágiles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Explorar técnicas de enseñanza que siguen los principios ágiles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Practicar la enseñanza basada en proyectos, el aprendizaje activo, la gamificación y el trabajo en equipo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49" y="152400"/>
            <a:ext cx="794514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1307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IV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4" name="Google Shape;274;p49"/>
          <p:cNvSpPr txBox="1"/>
          <p:nvPr/>
        </p:nvSpPr>
        <p:spPr>
          <a:xfrm>
            <a:off x="1038125" y="817925"/>
            <a:ext cx="6708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Herramientas para la docencia ágil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Uso de tableros Kanban, herramientas de gestión de proyectos, plataformas de aprendizaje en línea, etc.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Classroom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Kahoot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Moodle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/>
          <p:nvPr/>
        </p:nvSpPr>
        <p:spPr>
          <a:xfrm>
            <a:off x="2493750" y="311575"/>
            <a:ext cx="41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/>
              <a:t>Preguntas</a:t>
            </a:r>
            <a:endParaRPr b="1" sz="1700"/>
          </a:p>
        </p:txBody>
      </p:sp>
      <p:pic>
        <p:nvPicPr>
          <p:cNvPr id="280" name="Google Shape;2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175" y="1146625"/>
            <a:ext cx="4668975" cy="31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V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86" name="Google Shape;286;p51"/>
          <p:cNvSpPr txBox="1"/>
          <p:nvPr/>
        </p:nvSpPr>
        <p:spPr>
          <a:xfrm>
            <a:off x="967325" y="1085325"/>
            <a:ext cx="6708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Evaluación y retroalimentación ágil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Explorar </a:t>
            </a:r>
            <a:r>
              <a:rPr lang="es" sz="1800">
                <a:solidFill>
                  <a:schemeClr val="dk1"/>
                </a:solidFill>
              </a:rPr>
              <a:t>técnicas para evaluar y dar retroalimentación de manera ágil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Uso de la revisión por pares, la retroalimentación inmediata y la retroalimentación constante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/>
        </p:nvSpPr>
        <p: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Explorar técnicas para evaluar y dar retroalimentación de manera ágil</a:t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1. "5 técnicas para dar retroalimentación ágil y efectiva": Este artículo proporciona cinco técnicas para brindar retroalimentación ágil y efectiva, incluyendo el modelo SBI (Situación, Comportamiento, Impacto) y la técnica del "Elogio, Aprendizaje, Elogio". Puedes leerlo en el siguiente enlace: https://www.zengerfolkman.com/es/5-tecnicas-para-dar-retroalimentacion-agil-y-efectiva/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2. "Cómo dar retroalimentación efectiva en tiempo real": Este recurso ofrece consejos prácticos para proporcionar retroalimentación de manera ágil y en tiempo real. Explora diferentes enfoques, como el uso de preguntas abiertas y el establecimiento de expectativas claras. Puedes acceder al artículo aquí: https://www.td.org/insights/how-to-deliver-effective-feedback-in-real-time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3. "Feedback ágil: cómo hacerlo en tu equipo": Este artículo se centra en cómo implementar el feedback ágil en un equipo de trabajo. Presenta técnicas y estrategias para dar retroalimentación continua y específica, así como para fomentar una cultura de aprendizaje. Puedes encontrar más información en este enlace: https://www.expansion.com/emprendedores-empleo/empleo/2018/03/29/5abab7e3468aeb9b0a8b4574.html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Recuerda que cada contexto puede requerir enfoques y técnicas diferentes, por lo que es importante adaptar estas técnicas según tus necesidades y las de tus alumnos o colaboradores.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3"/>
          <p:cNvSpPr txBox="1"/>
          <p:nvPr/>
        </p:nvSpPr>
        <p: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</a:rPr>
              <a:t>Uso de la revisión por pares, la retroalimentación inmediata y la retroalimentación constante</a:t>
            </a:r>
            <a:endParaRPr b="1" sz="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El uso de la revisión por pares, la retroalimentación inmediata y la retroalimentación constante son prácticas comunes en la docencia y la educación. A continuación, te proporcionaré algunos enlaces a páginas web donde puedes encontrar información adicional sobre estos temas: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chemeClr val="dk1"/>
                </a:solidFill>
              </a:rPr>
              <a:t>1. Revisión por pares: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revisión por pares: qué es y cómo funciona": https://www.editage.com/insights/what-is-peer-review-and-how-does-it-work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revisión por pares: una guía para autores": https://www.elsevier.com/es-es/research-intelligence/resources/key-topics-in-research-management/peer-review-guide-for-authors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chemeClr val="dk1"/>
                </a:solidFill>
              </a:rPr>
              <a:t>2. Retroalimentación inmediata: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"El poder de la retroalimentación inmediata en el aprendizaje": https://elearningindustry.es/retroalimentacion-inmediata-en-aprendizaje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retroalimentación inmediata y su impacto en el aprendizaje": https://www.itesm.mx/va/dide2/retroalimentacion_inmediata.html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chemeClr val="dk1"/>
                </a:solidFill>
              </a:rPr>
              <a:t>3. Retroalimentación constante: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importancia de la retroalimentación constante en el aula": https://innovacioneducativa.upnvirtual.edu.mx/index.php/articulos/32-articulos/no-6/47-la-importancia-de-la-retroalimentacion-constante-en-el-aula- "La retroalimentación constante en el proceso de aprendizaje": https://www.udemy.com/blog/es/retroalimentacion-constante/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4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VI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02" name="Google Shape;302;p54"/>
          <p:cNvSpPr txBox="1"/>
          <p:nvPr/>
        </p:nvSpPr>
        <p:spPr>
          <a:xfrm>
            <a:off x="967325" y="1085325"/>
            <a:ext cx="67086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Mejora continua en la docencia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Principio de mejora continua en la docencia, mediante la recolección constante de retroalimentación y datos de evaluación, y la aplicación de estos datos en la mejora del proceso de enseñanza-aprendizaje.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Cierre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5"/>
          <p:cNvSpPr txBox="1"/>
          <p:nvPr/>
        </p:nvSpPr>
        <p: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"Mejora continua en la docencia: la importancia de la retroalimentación y la evaluación":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https://www.razonamientoclinico.es/mejora-continua-docencia-importancia-retroalimentacion-evaluacion/</a:t>
            </a:r>
            <a:br>
              <a:rPr lang="es"/>
            </a:br>
            <a:br>
              <a:rPr lang="e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"La mejora continua en la docencia: recolección y análisis de datos":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Enlace: </a:t>
            </a:r>
            <a:r>
              <a:rPr lang="es" u="sng">
                <a:solidFill>
                  <a:schemeClr val="hlink"/>
                </a:solidFill>
                <a:hlinkClick r:id="rId4"/>
              </a:rPr>
              <a:t>https://campusvirtual.unex.es/bbcswebdav/pid-2750975-dt-content-rid-9502653_1/courses/19-20/IN59D5-IUUD8-Docencia%20en%20contenidos%20digitales/Teoria/sesion_5.pdf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"El papel de la retroalimentación en la mejora continua de la enseñanza":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Enlace:</a:t>
            </a:r>
            <a:r>
              <a:rPr lang="es"/>
              <a:t> </a:t>
            </a:r>
            <a:r>
              <a:rPr lang="es" u="sng">
                <a:solidFill>
                  <a:schemeClr val="hlink"/>
                </a:solidFill>
                <a:hlinkClick r:id="rId5"/>
              </a:rPr>
              <a:t>https://www.unir.net/educacion/revista/noticias/el-papel-de-la-retroalimentacion-en-la-mejora-continua-de-la-ensenanza/406574198798/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/>
        </p:nvSpPr>
        <p:spPr>
          <a:xfrm>
            <a:off x="560775" y="805450"/>
            <a:ext cx="7651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"Mejora continua en la docencia: cómo utilizar los datos de evaluación":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https://www.educoas.org/portal/bdigital/contenido/val/val_95/Mejora_continua_en_la_docencia.pdf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"La importancia de la retroalimentación en el proceso de enseñanza-aprendizaje":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https://educacion2.com/importancia-de-la-retroalimentacion-en-el-proceso-de-ensenanza-aprendizaje/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"Curso: Metodologías ágiles para la educación - Sesión 1": </a:t>
            </a:r>
            <a:r>
              <a:rPr lang="es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https://www.youtube.com/live/OZeDMK3Hc4c?si=f8CXUUFZlv_K01G0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Curso: Metodologías ágiles para la educación - Sesión 4 : </a:t>
            </a:r>
            <a:r>
              <a:rPr lang="es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https://www.youtube.com/live/S9BUjJw_RHY?si=ig4js2U9ocqYdnRw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7"/>
          <p:cNvSpPr txBox="1"/>
          <p:nvPr/>
        </p:nvSpPr>
        <p:spPr>
          <a:xfrm>
            <a:off x="788675" y="897450"/>
            <a:ext cx="7054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318" name="Google Shape;3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525" y="312275"/>
            <a:ext cx="4563825" cy="31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7"/>
          <p:cNvSpPr txBox="1"/>
          <p:nvPr/>
        </p:nvSpPr>
        <p:spPr>
          <a:xfrm>
            <a:off x="788675" y="4212475"/>
            <a:ext cx="787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Contacto: </a:t>
            </a:r>
            <a:r>
              <a:rPr lang="es" sz="1800" u="sng">
                <a:solidFill>
                  <a:schemeClr val="hlink"/>
                </a:solidFill>
                <a:hlinkClick r:id="rId4"/>
              </a:rPr>
              <a:t>https://www.linkedin.com/in/marlenis-judith-c-561117a3/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