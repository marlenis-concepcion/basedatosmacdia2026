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a="http://schemas.openxmlformats.org/drawingml/2006/main" xmlns:ns3="http://schemas.microsoft.com/office/powerpoint/2012/main" xmlns:r="http://schemas.openxmlformats.org/officeDocument/2006/relationships" autoCompressPictures="0" embedTrueTypeFonts="1" strictFirstAndLastChars="0" saveSubsetFonts="1">
  <sldMasterIdLst>
    <sldMasterId id="2147483659" r:id="rId4"/>
  </sldMasterIdLst>
  <notesMasterIdLst>
    <notesMasterId r:id="rId5"/>
  </notesMasterIdLst>
  <sldIdLst>
    <sldId id="256" r:id="rId6"/>
    <sldId id="257" r:id="rId7"/>
    <sldId id="258" r:id="rId8"/>
    <sldId id="259" r:id="rId9"/>
    <sldId id="260" r:id="rId10"/>
    <sldId id="261" r:id="rId11"/>
    <sldId id="262" r:id="rId12"/>
    <sldId id="263" r:id="rId13"/>
    <sldId id="264" r:id="rId14"/>
    <sldId id="265" r:id="rId15"/>
    <sldId id="266" r:id="rId16"/>
    <sldId id="267" r:id="rId17"/>
    <sldId id="268" r:id="rId18"/>
    <sldId id="269" r:id="rId19"/>
    <sldId id="270" r:id="rId20"/>
    <sldId id="271" r:id="rId21"/>
    <sldId id="272" r:id="rId22"/>
    <sldId id="273" r:id="rId23"/>
    <sldId id="274" r:id="rId24"/>
  </sldIdLst>
  <sldSz cy="5143500" cx="9144000"/>
  <notesSz cx="6858000" cy="9144000"/>
  <embeddedFontLst>
    <embeddedFont>
      <font typeface="Century Gothic"/>
      <regular r:id="rId51"/>
      <bold r:id="rId52"/>
      <italic r:id="rId53"/>
      <boldItalic r:id="rId54"/>
    </embeddedFont>
  </embeddedFontLst>
  <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defaultTextStyle>
  <extLst>
    <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Gothic-regular.fntdata"/><Relationship Id="rId50" Type="http://schemas.openxmlformats.org/officeDocument/2006/relationships/slide" Target="slides/slide45.xml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385b33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385b33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d681d98b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d681d98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d681d98b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d681d98b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f0e5e909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f0e5e909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f0e5e909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f0e5e909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e52e80d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e52e80d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e52e80d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e52e80d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e52e80d9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e52e80d9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e52e80d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e52e80d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4e52e80d9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4e52e80d9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e52e80d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e52e80d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e52e80d9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e52e80d9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e52e80d9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e52e80d9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e52e80d9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e52e80d9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3ea2dbf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e3ea2dbf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3ea2dbf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3ea2dbf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3ea2dbf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3ea2dbf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3ea2dbf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3ea2dbf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3ea2dbf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e3ea2dbf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3ea2dbfa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e3ea2dbfa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3f2da46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e3f2da46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3f2da466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3f2da46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e3f2da46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e3f2da46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3f2da46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3f2da46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3f2da46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e3f2da46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e3f2da466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e3f2da46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e3f2da46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e3f2da46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3f2da466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e3f2da466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3f2da466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e3f2da466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3f2da46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3f2da46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3f2da46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3f2da46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59a461c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159a461c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4e52e80d9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4e52e80d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a81c456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a81c45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a81c456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a81c456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4e52e80d9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4e52e80d9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159a461c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159a461c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4e52e80d9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4e52e80d9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e47b5b57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e47b5b57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e47b5b57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e47b5b57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e52e80d9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4e52e80d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d681d98b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4d681d98b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8d2f9f3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8d2f9f3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59a461c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159a461c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3" Type="http://schemas.openxmlformats.org/officeDocument/2006/relationships/image" Target="../media/image1.jpg" /><ns0:Relationship Id="rId4" Type="http://schemas.openxmlformats.org/officeDocument/2006/relationships/image" Target="../media/image4.jp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razonamientoclinico.es/mejora-continua-docencia-importancia-retroalimentacion-evaluacion/" TargetMode="External"/><Relationship Id="rId4" Type="http://schemas.openxmlformats.org/officeDocument/2006/relationships/hyperlink" Target="https://campusvirtual.unex.es/bbcswebdav/pid-2750975-dt-content-rid-9502653_1/courses/19-20/IN59D5-IUUD8-Docencia%20en%20contenidos%20digitales/Teoria/sesion_5.pdf" TargetMode="External"/><Relationship Id="rId5" Type="http://schemas.openxmlformats.org/officeDocument/2006/relationships/hyperlink" Target="https://www.unir.net/educacion/revista/noticias/el-papel-de-la-retroalimentacion-en-la-mejora-continua-de-la-ensenanza/406574198798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educoas.org/portal/bdigital/contenido/val/val_95/Mejora_continua_en_la_docencia.pdf" TargetMode="External"/><Relationship Id="rId4" Type="http://schemas.openxmlformats.org/officeDocument/2006/relationships/hyperlink" Target="https://educacion2.com/importancia-de-la-retroalimentacion-en-el-proceso-de-ensenanza-aprendizaje/" TargetMode="External"/><Relationship Id="rId5" Type="http://schemas.openxmlformats.org/officeDocument/2006/relationships/hyperlink" Target="https://www.youtube.com/live/OZeDMK3Hc4c?si=f8CXUUFZlv_K01G0" TargetMode="External"/><Relationship Id="rId6" Type="http://schemas.openxmlformats.org/officeDocument/2006/relationships/hyperlink" Target="https://www.youtube.com/live/S9BUjJw_RHY?si=ig4js2U9ocqYdnRw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gif"/><Relationship Id="rId4" Type="http://schemas.openxmlformats.org/officeDocument/2006/relationships/hyperlink" Target="https://www.linkedin.com/in/marlenis-judith-c-561117a3/" TargetMode="Externa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nvGrpSpPr>
        <cNvPr id="53" name="Shape 53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54" name="Google Shape;54;p13"/>
          <cNvPicPr preferRelativeResize="0"/>
          <nvPr/>
        </nvPicPr>
        <blipFill rotWithShape="1">
          <a:blip r:embed="rId3">
            <a:alphaModFix/>
          </a:blip>
          <a:srcRect b="0" l="0" r="0" t="0"/>
          <a:stretch/>
        </blipFill>
        <spPr>
          <a:xfrm>
            <a:off x="234472" y="199352"/>
            <a:ext cx="1182624" cy="1290827"/>
          </a:xfrm>
          <a:prstGeom prst="rect">
            <a:avLst/>
          </a:prstGeom>
          <a:noFill/>
          <a:ln>
            <a:noFill/>
          </a:ln>
        </spPr>
      </pic>
      <pic>
        <nvPicPr>
          <cNvPr id="55" name="Google Shape;55;p13"/>
          <cNvPicPr preferRelativeResize="0"/>
          <nvPr/>
        </nvPicPr>
        <blipFill rotWithShape="1">
          <a:blip r:embed="rId4">
            <a:alphaModFix/>
          </a:blip>
          <a:srcRect b="0" l="0" r="0" t="0"/>
          <a:stretch/>
        </blipFill>
        <spPr>
          <a:xfrm>
            <a:off x="7574150" y="160400"/>
            <a:ext cx="1065580" cy="1207008"/>
          </a:xfrm>
          <a:prstGeom prst="rect">
            <a:avLst/>
          </a:prstGeom>
          <a:noFill/>
          <a:ln>
            <a:noFill/>
          </a:ln>
        </spPr>
      </pic>
      <sp>
        <nvSpPr>
          <cNvPr id="56" name="Google Shape;56;p13"/>
          <cNvSpPr txBox="1"/>
          <nvPr/>
        </nvSpPr>
        <spPr>
          <a:xfrm>
            <a:off x="1616425" y="392700"/>
            <a:ext cx="5871000" cy="4926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UNIVERSIDAD AUTONOMA DE SANTO DOMINGO</a:t>
            </a:r>
            <a:endParaRPr b="1" sz="500">
              <a:latin typeface="Courier New"/>
              <a:ea typeface="Courier New"/>
              <a:cs typeface="Courier New"/>
              <a:sym typeface="Courier New"/>
            </a:endParaRPr>
          </a:p>
        </txBody>
      </sp>
      <sp>
        <nvSpPr>
          <cNvPr id="57" name="Google Shape;57;p13"/>
          <cNvSpPr txBox="1"/>
          <nvPr/>
        </nvSpPr>
        <spPr>
          <a:xfrm>
            <a:off x="2551625" y="766325"/>
            <a:ext cx="4481100" cy="338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Primada de America  |  Fundada el 28 de octubre de 1538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txBody>
      </sp>
      <sp>
        <nvSpPr>
          <cNvPr id="58" name="Google Shape;58;p13"/>
          <cNvSpPr txBox="1"/>
          <nvPr/>
        </nvSpPr>
        <spPr>
          <a:xfrm flipH="1">
            <a:off x="114875" y="2089625"/>
            <a:ext cx="8263800" cy="8004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TAREA 5.1: CONSULTAS AVANZADAS, SP Y TRIGGER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DBNomina en SQL Server - Unidad 5</a:t>
            </a:r>
            <a:endParaRPr b="1" sz="2000"/>
          </a:p>
        </txBody>
      </sp>
      <sp>
        <nvSpPr>
          <cNvPr id="59" name="Google Shape;59;p13"/>
          <cNvSpPr txBox="1"/>
          <nvPr/>
        </nvSpPr>
        <spPr>
          <a:xfrm>
            <a:off x="6821425" y="4322875"/>
            <a:ext cx="1818300" cy="461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Century Gothic"/>
                <a:ea typeface="Century Gothic"/>
                <a:cs typeface="Century Gothic"/>
                <a:sym typeface="Century Gothic"/>
              </a:rPr>
              <a:t>Base de Datos I  |  INF-8236-C2  |  Maestria en Ciencia de Datos e IA</a:t>
            </a:r>
            <a:endParaRPr b="1" sz="1000">
              <a:latin typeface="Century Gothic"/>
              <a:ea typeface="Century Gothic"/>
              <a:cs typeface="Century Gothic"/>
              <a:sym typeface="Century Gothic"/>
            </a:endParaRPr>
          </a:p>
        </txBody>
      </sp>
      <sp>
        <nvSpPr>
          <cNvPr id="61" name="Google Shape;61;p13"/>
          <cNvSpPr txBox="1"/>
          <nvPr/>
        </nvSpPr>
        <spPr>
          <a:xfrm>
            <a:off x="921250" y="4094375"/>
            <a:ext cx="2283300" cy="461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rgbClr val="1155CC"/>
                </a:solidFill>
              </a:rPr>
              <a:t>Mannix  -  Roberto Byas  -  Victor Perez  -  Marlenis Concepcion  -  Abril 2026</a:t>
            </a:r>
            <a:endParaRPr b="1" sz="1800" u="sng">
              <a:solidFill>
                <a:srgbClr val="1155CC"/>
              </a:solidFill>
            </a:endParaRPr>
          </a:p>
        </txBody>
      </sp>
    </spTree>
  </cSld>
  <clrMapOvr>
    <a:masterClrMapping/>
  </clrMapOvr>
</sld>
</file>

<file path=ppt/slides/slide2.xml><?xml version="1.0" encoding="utf-8"?>
<sld xmlns="http://schemas.openxmlformats.org/presentationml/2006/main" xmlns:a="http://schemas.openxmlformats.org/drawingml/2006/main">
  <cSld>
    <spTree>
      <nvGrpSpPr>
        <cNvPr id="65" name="Shape 6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66" name="Google Shape;66;p14"/>
          <cNvSpPr txBox="1"/>
          <nvPr/>
        </nvSpPr>
        <spPr>
          <a:xfrm>
            <a:off x="2887550" y="169525"/>
            <a:ext cx="3488700" cy="477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Grupo y distribucion de exposicion</a:t>
            </a:r>
            <a:endParaRPr b="1" sz="1900"/>
          </a:p>
        </txBody>
      </sp>
      <sp>
        <nvSpPr>
          <cNvPr id="67" name="Google Shape;67;p14"/>
          <cNvSpPr txBox="1"/>
          <nvPr/>
        </nvSpPr>
        <spPr>
          <a:xfrm>
            <a:off x="115825" y="922225"/>
            <a:ext cx="5070900" cy="22164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Mannix   -&gt;  Diapositivas 3 a 6  |  Contexto, alcance, modelo DBNomina y datos de prueba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Roberto  -&gt;  Diapositivas 7 a 9  |  Planes de ejecucion, indices y estadisticas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Victor   -&gt;  Diapositivas 10 a 12 | ACID, COMMIT, ROLLBACK, SAVEPOINT, concurrencia y aislamiento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Marlenis -&gt;  Diapositivas 13 a 18 | Stored procedures, funcion, triggers, vista indexada, seguridad y evidencias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/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Portada y cierre: diapositivas 1, 2 y 19 se pueden manejar entre todos o abrir/cerrar Marlenis.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Asignatura: Base de Datos I  |  INF-8236-C2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Tutora: Mtra. Rosmery Alberto M.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-304800" lvl="0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s" sz="1200">
                <a:solidFill>
                  <a:schemeClr val="dk1"/>
                </a:solidFill>
                <a:highlight>
                  <a:srgbClr val="FFF2CC"/>
                </a:highlight>
              </a:rPr>
              <a:t>Enfoque: a Marlenis se le deja la parte mas tecnica de los scripts.</a:t>
            </a:r>
            <a:endParaRPr b="1" sz="1200">
              <a:solidFill>
                <a:schemeClr val="dk1"/>
              </a:solidFill>
              <a:highlight>
                <a:srgbClr val="FFF2CC"/>
              </a:highlight>
            </a:endParaRPr>
          </a:p>
        </txBody>
      </sp>
    </spTree>
  </cSld>
  <clrMapOvr>
    <a:masterClrMapping/>
  </clrMapOvr>
</sld>
</file>

<file path=ppt/slides/slide3.xml><?xml version="1.0" encoding="utf-8"?>
<sld xmlns="http://schemas.openxmlformats.org/presentationml/2006/main" xmlns:a="http://schemas.openxmlformats.org/drawingml/2006/main">
  <cSld>
    <spTree>
      <nvGrpSpPr>
        <cNvPr id="72" name="Shape 72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73" name="Google Shape;73;p15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</a:t>
            </a:r>
            <a:endParaRPr b="1" sz="1900"/>
          </a:p>
        </txBody>
      </sp>
      <sp>
        <nvSpPr>
          <cNvPr id="74" name="Google Shape;74;p15"/>
          <cNvSpPr txBox="1"/>
          <nvPr/>
        </nvSpPr>
        <spPr>
          <a:xfrm>
            <a:off x="943775" y="1199000"/>
            <a:ext cx="7054500" cy="26166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Contexto de la tarea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Unidad 5 - Administracion y optimizacion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Base de datos: DBNomina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Consultas avanzadas, SP, triggers y seguridad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Mannix</a:t>
            </a:r>
            <a:endParaRPr b="1" sz="1700">
              <a:solidFill>
                <a:schemeClr val="dk1"/>
              </a:solidFill>
            </a:endParaRPr>
          </a:p>
        </txBody>
      </sp>
      <sp>
        <nvSpPr>
          <cNvPr id="75" name="Google Shape;75;p15"/>
          <cNvSpPr txBox="1"/>
          <nvPr/>
        </nvSpPr>
        <spPr>
          <a:xfrm>
            <a:off x="3928700" y="4385325"/>
            <a:ext cx="4643700" cy="4002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Contexto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DBNomina</a:t>
            </a:r>
            <a:endParaRPr b="1">
              <a:solidFill>
                <a:srgbClr val="FF0000"/>
              </a:solidFill>
            </a:endParaRPr>
          </a:p>
        </txBody>
      </sp>
    </spTree>
  </cSld>
  <clrMapOvr>
    <a:masterClrMapping/>
  </clrMapOvr>
</sld>
</file>

<file path=ppt/slides/slide4.xml><?xml version="1.0" encoding="utf-8"?>
<sld xmlns="http://schemas.openxmlformats.org/presentationml/2006/main" xmlns:a="http://schemas.openxmlformats.org/drawingml/2006/main">
  <cSld>
    <spTree>
      <nvGrpSpPr>
        <cNvPr id="117" name="Shape 117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18" name="Google Shape;118;p22"/>
          <cNvSpPr txBox="1"/>
          <nvPr/>
        </nvSpPr>
        <spPr>
          <a:xfrm>
            <a:off x="788675" y="897450"/>
            <a:ext cx="8206500" cy="3370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Objetivo y alcance de la entrega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La solucion cubre los 12 ejercicios solicitados por la tutora en SQL Server.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Se construyo la base DBNomina con tablas maestras, transaccionales, auditoria, historico y cache.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Tambien se integraron indices, estadisticas, transacciones controladas, procedimientos almacenados, funcion, triggers, vista indexada y seguridad.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La entrega final incluye script SQL, documento de respuestas y esta presentacion.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Se adaptaron nombres y contexto academico a la realidad de la asignatura INF-8236-C2.</a:t>
            </a:r>
            <a:endParaRPr b="1" sz="19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5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Modelo DBNomina - Tablas principales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Compania: tabla maestra de la institucion; se uso codigo UAS.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TipoPeriodoNomina: MEN, QUI y DIA, agregada para completar el modelo del enunciado.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Departamento: ADM, FIN, DOC y TIC.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Empleado: datos personales, cargo, sueldo base, estado y relacion con compania/departamento.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TipoNomina: FIX, DOC y EXT vinculadas al tipo de periodo.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PeriodoNomina: enero, febrero y marzo 2026.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TransaccionNomina: pagos, montos, deducciones, neto, estado y trazabilidad.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6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Datos de prueba y reglas de calculo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 cargaron 7 empleados: Marlenis, Roberto Byas, Victor Perez Padilla, Manicaotex, Rosmery, Ana Martinez y Jose Amado.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 registraron transacciones 1001 a 1010 para demostrar consultas, COMMIT, SAVEPOINT, triggers y DELETE historico.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Reglas de Republica Dominicana aplicadas en el SP de calculo: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AFP empleado = 2.87% con tope SVDS 2026 de RD$464,460.00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ARS empleado = 3.04% con tope SFS 2026 de RD$232,230.00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ISR 2026 usando la escala oficial de DGII sobre el ingreso anual gravado.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7.xml><?xml version="1.0" encoding="utf-8"?>
<sld xmlns="http://schemas.openxmlformats.org/presentationml/2006/main" xmlns:a="http://schemas.openxmlformats.org/drawingml/2006/main">
  <cSld>
    <spTree>
      <nvGrpSpPr>
        <cNvPr id="148" name="Shape 148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49" name="Google Shape;149;p27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II</a:t>
            </a:r>
            <a:endParaRPr b="1" sz="1900"/>
          </a:p>
        </txBody>
      </sp>
      <sp>
        <nvSpPr>
          <cNvPr id="150" name="Google Shape;150;p27"/>
          <cNvSpPr txBox="1"/>
          <nvPr/>
        </nvSpPr>
        <spPr>
          <a:xfrm>
            <a:off x="1038125" y="817925"/>
            <a:ext cx="6708600" cy="3601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Optimizacion de consultas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Plan de ejecucion inicial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Indice no agrupado por Empleado_ID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Actualizacion de estadisticas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Comparacion antes y despues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Roberto</a:t>
            </a:r>
            <a:endParaRPr b="1" sz="1700">
              <a:solidFill>
                <a:schemeClr val="dk1"/>
              </a:solidFill>
            </a:endParaRPr>
          </a:p>
        </txBody>
      </sp>
      <sp>
        <nvSpPr>
          <cNvPr id="151" name="Google Shape;151;p27"/>
          <cNvSpPr txBox="1"/>
          <nvPr/>
        </nvSpPr>
        <spPr>
          <a:xfrm>
            <a:off x="6089000" y="4530825"/>
            <a:ext cx="2912100" cy="4002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Tuning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SQL Server</a:t>
            </a:r>
            <a:endParaRPr b="1">
              <a:solidFill>
                <a:srgbClr val="FF0000"/>
              </a:solidFill>
            </a:endParaRPr>
          </a:p>
        </txBody>
      </sp>
    </spTree>
  </cSld>
  <clrMapOvr>
    <a:masterClrMapping/>
  </clrMapOvr>
</sld>
</file>

<file path=ppt/slides/slide8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Ejercicio 1 y 2 - Plan de ejecucion e indice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Consulta analizada: SELECT * FROM dbo.TransaccionNomina WHERE Empleado_ID = 3;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Antes de crear el indice: operacion esperada = Clustered Index Scan.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Despues de crear IX_TransaccionNomina_Empleado_ID: operacion esperada = NonClustered Index Seek.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Si se mantiene SELECT *, SQL Server puede agregar Key Lookup segun el plan real.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Conclusión: el indice reduce lecturas innecesarias y mejora el tiempo de acceso por empleado.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Resultado de la consulta para Empleado_ID = 3: transacciones 1003 y 1006.</a:t>
            </a:r>
            <a:endParaRPr/>
          </a:p>
        </txBody>
      </sp>
    </spTree>
  </cSld>
  <clrMapOvr>
    <a:masterClrMapping/>
  </clrMapOvr>
</sld>
</file>

<file path=ppt/slides/slide9.xml><?xml version="1.0" encoding="utf-8"?>
<sld xmlns="http://schemas.openxmlformats.org/presentationml/2006/main" xmlns:a="http://schemas.openxmlformats.org/drawingml/2006/main">
  <cSld>
    <spTree>
      <nvGrpSpPr>
        <cNvPr id="311" name="Shape 311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12" name="Google Shape;312;p56"/>
          <cNvSpPr txBox="1"/>
          <nvPr/>
        </nvSpPr>
        <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Ejercicio 3 - Estadisticas y optimizador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Comando ejecutado: UPDATE STATISTICS dbo.TransaccionNomina;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Consulta evaluada: WHERE TransaccionNomina_Monto &gt; 20000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La tabla devolvio las transacciones 1001 a 1009, porque todas superan RD$20,000 excepto que 1010 luego se elimina.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Las estadisticas ayudan al optimizador a estimar cardinalidad, costo y mejor estrategia de acceso.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Sin estadisticas actualizadas puede elegir un plan poco eficiente.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Con estadisticas correctas mejora la precision del plan para filtros, joins y agregaciones.</a:t>
            </a:r>
            <a:endParaRPr/>
          </a:p>
        </txBody>
      </sp>
    </spTree>
  </cSld>
  <clrMapOvr>
    <a:masterClrMapping/>
  </clrMapOvr>
</sld>
</file>

<file path=ppt/slides/slide10.xml><?xml version="1.0" encoding="utf-8"?>
<sld xmlns="http://schemas.openxmlformats.org/presentationml/2006/main" xmlns:a="http://schemas.openxmlformats.org/drawingml/2006/main">
  <cSld>
    <spTree>
      <nvGrpSpPr>
        <cNvPr id="256" name="Shape 25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57" name="Google Shape;257;p46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III</a:t>
            </a:r>
            <a:endParaRPr b="1" sz="1900"/>
          </a:p>
        </txBody>
      </sp>
      <sp>
        <nvSpPr>
          <cNvPr id="258" name="Google Shape;258;p46"/>
          <cNvSpPr txBox="1"/>
          <nvPr/>
        </nvSpPr>
        <spPr>
          <a:xfrm>
            <a:off x="1038125" y="817925"/>
            <a:ext cx="6708600" cy="3047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Transacciones y concurrencia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ACID, COMMIT, ROLLBACK y SAVEPOINT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Bloqueos y nivel READ COMMITTED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Control de consistencia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Caso practico en DBNomina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Victor</a:t>
            </a:r>
            <a:endParaRPr b="1" sz="17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1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Ejercicio 4 y 5 - COMMIT, ROLLBACK y SAVEPOINT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Transaccion con COMMIT: se inserto el pago 1007 para Ana Martinez y quedo confirmado.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Resultado 1007: bruto RD$32,000.00, AFP RD$918.40, ARS RD$972.80, ISR RD$0.00, neto RD$30,108.80.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Prueba con SAVEPOINT: se insertaron 1008 y 1009 y luego se hizo una actualizacion posterior al punto parcial.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Al ejecutar ROLLBACK TRAN PuntoParcial, la actualizacion se revirtio pero los INSERT permanecieron.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Ventaja: permite rollback parcial sin perder toda la transaccion.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2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Ejercicio 6 y 7 - Bloqueos y aislamiento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Sesion 1: UPDATE dbo.Empleado SET Empleado_SueldoBase = 83000 WHERE Empleado_ID = 3; sin COMMIT.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Sesion 2: intenta actualizar el mismo Empleado_ID = 3 y queda esperando el recurso.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La causa es un bloqueo exclusivo retenido por la primera transaccion.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Nivel configurado: SET TRANSACTION ISOLATION LEVEL READ COMMITTED;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Este nivel evita dirty reads, es decir, lecturas de datos todavia no confirmados.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Conclusión: mejora la consistencia sin llegar al costo de aislamiento mas alto.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3.xml><?xml version="1.0" encoding="utf-8"?>
<sld xmlns="http://schemas.openxmlformats.org/presentationml/2006/main" xmlns:a="http://schemas.openxmlformats.org/drawingml/2006/main">
  <cSld>
    <spTree>
      <nvGrpSpPr>
        <cNvPr id="272" name="Shape 272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73" name="Google Shape;273;p49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Seccion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IV</a:t>
            </a:r>
            <a:endParaRPr b="1" sz="1900"/>
          </a:p>
        </txBody>
      </sp>
      <sp>
        <nvSpPr>
          <cNvPr id="274" name="Google Shape;274;p49"/>
          <cNvSpPr txBox="1"/>
          <nvPr/>
        </nvSpPr>
        <spPr>
          <a:xfrm>
            <a:off x="1038125" y="817925"/>
            <a:ext cx="6708600" cy="41559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Programabilidad en SQL Server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Stored Procedures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Funcion escalar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Triggers de auditoria, cache e historico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Automatizacion del proceso de nomina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Presenta: Marlenis</a:t>
            </a:r>
            <a:endParaRPr b="1" sz="17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4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Stored Procedures implementados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SP_Actualizar_TransaccionesNomina: calcula sueldo base, AFP, ARS, ISR y neto.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SP_Consultar_NominaEmpleado: lista todas las transacciones de un empleado.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SP_Insertar_EmpleadoLog: inserta auditoria de INSERT, UPDATE y DELETE en Empleado.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SP_Insertar_TransaccionNominaLog: registra auditoria de cambios en TransaccionNomina.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SP_Insertar_TransaccionesNominaHistorico: guarda historico al eliminar una transaccion.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Ejemplo documentado: EXEC dbo.SP_Consultar_NominaEmpleado @Empleado_ID = 3;</a:t>
            </a:r>
            <a:endParaRPr/>
          </a:p>
        </txBody>
      </sp>
    </spTree>
  </cSld>
  <clrMapOvr>
    <a:masterClrMapping/>
  </clrMapOvr>
</sld>
</file>

<file path=ppt/slides/slide15.xml><?xml version="1.0" encoding="utf-8"?>
<sld xmlns="http://schemas.openxmlformats.org/presentationml/2006/main" xmlns:a="http://schemas.openxmlformats.org/drawingml/2006/main">
  <cSld>
    <spTree>
      <nvGrpSpPr>
        <cNvPr id="311" name="Shape 311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12" name="Google Shape;312;p56"/>
          <cNvSpPr txBox="1"/>
          <nvPr/>
        </nvSpPr>
        <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Funcion y triggers creados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FN_SalarioAnual(@SueldoMensual): retorna sueldo mensual x 12.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Trigger 1: TR_TransaccionNomina_AfterInsert_Actualizar -&gt; ejecuta SP_Actualizar_TransaccionesNomina.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Trigger 2: TR_TransaccionNomina_AfterInsert_ConsultarEmpleado -&gt; llena NominaEmpleadoConsultaCache.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Trigger 3: TR_Empleado_Audit -&gt; registra cambios en EmpleadoLog.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Trigger 4: TR_TransaccionNomina_Audit -&gt; registra eventos en TransaccionNominaLog.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Trigger 5: TR_TransaccionNomina_Historico -&gt; al DELETE archiva la transaccion en historico.</a:t>
            </a:r>
            <a:endParaRPr/>
          </a:p>
        </txBody>
      </sp>
    </spTree>
  </cSld>
  <clrMapOvr>
    <a:masterClrMapping/>
  </clrMapOvr>
</sld>
</file>

<file path=ppt/slides/slide16.xml><?xml version="1.0" encoding="utf-8"?>
<sld xmlns="http://schemas.openxmlformats.org/presentationml/2006/main" xmlns:a="http://schemas.openxmlformats.org/drawingml/2006/main">
  <cSld>
    <spTree>
      <nvGrpSpPr>
        <cNvPr id="290" name="Shape 29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1" name="Google Shape;291;p52"/>
          <cNvSpPr txBox="1"/>
          <nvPr/>
        </nvSpPr>
        <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Vista indexada y seguridad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VW_TotalNominaEmpleado se creo con WITH SCHEMABINDING como indexed view.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Agrega por Empleado_ID la cantidad de transacciones y el total pagado neto.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Se creo el indice unico clustered IX_VW_TotalNominaEmpleado.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En seguridad se creo el login login_consulta_nomina_marlenis y el usuario user_consulta_nomina_marlenis.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Se creo el rol RolConsultaNomina con permisos SELECT sobre tablas de nomina y la vista.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Aplicacion del principio de minimo privilegio: solo lectura, sin permisos de escritura.</a:t>
            </a:r>
            <a:endParaRPr b="1" sz="10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7.xml><?xml version="1.0" encoding="utf-8"?>
<sld xmlns="http://schemas.openxmlformats.org/presentationml/2006/main" xmlns:a="http://schemas.openxmlformats.org/drawingml/2006/main">
  <cSld>
    <spTree>
      <nvGrpSpPr>
        <cNvPr id="295" name="Shape 295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96" name="Google Shape;296;p53"/>
          <cNvSpPr txBox="1"/>
          <nvPr/>
        </nvSpPr>
        <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Evidencias de corrida mas importantes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Empleado_ID = 3 devuelve las transacciones 1003 y 1006.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1007 confirmado con COMMIT para Ana Martinez: neto RD$30,108.80.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1008 y 1009 permanecen luego del rollback parcial al SAVEPOINT.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Insertar 1010 para Jose Amado dispara calculo automatico, cache y auditoria.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Eliminar 1010 genera registro historico DELETE con neto RD$58,989.11.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La vista indexada muestra como mayor total pagado a Rosmery con RD$188,240.97.</a:t>
            </a:r>
            <a:endParaRPr b="1" sz="8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18.xml><?xml version="1.0" encoding="utf-8"?>
<sld xmlns="http://schemas.openxmlformats.org/presentationml/2006/main" xmlns:a="http://schemas.openxmlformats.org/drawingml/2006/main">
  <cSld>
    <spTree>
      <nvGrpSpPr>
        <cNvPr id="306" name="Shape 306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7" name="Google Shape;307;p55"/>
          <cNvSpPr txBox="1"/>
          <nvPr/>
        </nvSpPr>
        <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Referencias oficiales usadas en los calculos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DGII - Escala de ISR 2026 para asalariados.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DGII - Comunidad de ayuda sobre escala salarial 2026.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TSS - Manual de preguntas frecuentes, porcentajes de retencion y aporte.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TSS - Topes de cotizacion del regimen contributivo vigentes para 2026.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Estas referencias sustentan los porcentajes AFP 2.87%, ARS 3.04% y el ISR aplicado en el stored procedure.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presentacion resume la entrega, mientras el detalle completo esta en el SQL y el PDF de evidencias.</a:t>
            </a:r>
            <a:endParaRPr/>
          </a:p>
        </txBody>
      </sp>
    </spTree>
  </cSld>
  <clrMapOvr>
    <a:masterClrMapping/>
  </clrMapOvr>
</sld>
</file>

<file path=ppt/slides/slide19.xml><?xml version="1.0" encoding="utf-8"?>
<sld xmlns="http://schemas.openxmlformats.org/presentationml/2006/main" xmlns:a="http://schemas.openxmlformats.org/drawingml/2006/main">
  <cSld>
    <spTree>
      <nvGrpSpPr>
        <cNvPr id="300" name="Shape 300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01" name="Google Shape;301;p54"/>
          <cNvSpPr txBox="1"/>
          <nvPr/>
        </nvSpPr>
        <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Cierre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Final</a:t>
            </a:r>
            <a:endParaRPr b="1" sz="1900"/>
          </a:p>
        </txBody>
      </sp>
      <sp>
        <nvSpPr>
          <cNvPr id="302" name="Google Shape;302;p54"/>
          <cNvSpPr txBox="1"/>
          <nvPr/>
        </nvSpPr>
        <spPr>
          <a:xfrm>
            <a:off x="967325" y="1085325"/>
            <a:ext cx="6708600" cy="3663300"/>
          </a:xfrm>
          <a:prstGeom prst="rect">
            <a:avLst/>
          </a:prstGeom>
          <a:noFill/>
          <a:ln>
            <a:noFill/>
          </a:ln>
        </spPr>
        <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Conclusiones y archivos entregados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Se resolvieron los 12 ejercicios solicitados para la Tarea 5.1.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Se entregan: script SQL Server, PDF de respuestas y esta presentacion.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Distribucion final: Mannix (contexto), Roberto (optimizacion), Victor (transacciones), Marlenis (scripts tecnicos).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Archivos clave: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Marlenis-Concepcion-INF8236-Tarea-5.1-DBNomina.sql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Marlenis-Concepcion-INF8236-Tarea-5.1-Respuestas-y-Evidencias.pdf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Gracias.</a:t>
            </a:r>
            <a:endParaRPr b="1" sz="1900">
              <a:solidFill>
                <a:schemeClr val="dk1"/>
              </a:solidFill>
            </a:endParaRPr>
          </a:p>
        </txBody>
      </sp>
    </spTree>
  </cSld>
  <clrMapOvr>
    <a:masterClrMapping/>
  </clrMapOvr>
</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0" y="1369413"/>
            <a:ext cx="8839198" cy="240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152400"/>
            <a:ext cx="817447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950" y="273425"/>
            <a:ext cx="3634050" cy="22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300" y="2223800"/>
            <a:ext cx="3458575" cy="23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25" y="68075"/>
            <a:ext cx="2127250" cy="29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775" y="448100"/>
            <a:ext cx="4476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9075" y="2807350"/>
            <a:ext cx="1984775" cy="21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4750" y="2717713"/>
            <a:ext cx="2165667" cy="23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1625"/>
            <a:ext cx="8839200" cy="218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100" y="250675"/>
            <a:ext cx="6028775" cy="16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00" y="2412925"/>
            <a:ext cx="2973850" cy="20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450" y="2766199"/>
            <a:ext cx="3825399" cy="15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875" y="212900"/>
            <a:ext cx="783623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8375"/>
            <a:ext cx="8839199" cy="1954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47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50" y="107000"/>
            <a:ext cx="3754026" cy="15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875" y="0"/>
            <a:ext cx="3837324" cy="19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5975" y="2170875"/>
            <a:ext cx="2127825" cy="28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9399" y="2511238"/>
            <a:ext cx="2563875" cy="21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50" y="1650075"/>
            <a:ext cx="8839199" cy="211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150" y="152400"/>
            <a:ext cx="36589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4425"/>
            <a:ext cx="8839197" cy="207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/>
        </p:nvSpPr>
        <p:spPr>
          <a:xfrm>
            <a:off x="2493750" y="311575"/>
            <a:ext cx="41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/>
              <a:t>Preguntas</a:t>
            </a:r>
            <a:endParaRPr b="1" sz="1700"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175" y="1146625"/>
            <a:ext cx="4668975" cy="31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</a:t>
            </a:r>
            <a:r>
              <a:rPr b="1" lang="es" sz="1900"/>
              <a:t>III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8" name="Google Shape;258;p46"/>
          <p:cNvSpPr txBox="1"/>
          <p:nvPr/>
        </p:nvSpPr>
        <p:spPr>
          <a:xfrm>
            <a:off x="1038125" y="817925"/>
            <a:ext cx="6708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Métodos de enseñanza ágiles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Explorar técnicas de enseñanza que siguen los principios ágiles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Practicar la enseñanza basada en proyectos, el aprendizaje activo, la gamificación y el trabajo en equipo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49" y="152400"/>
            <a:ext cx="794514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130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IV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4" name="Google Shape;274;p49"/>
          <p:cNvSpPr txBox="1"/>
          <p:nvPr/>
        </p:nvSpPr>
        <p:spPr>
          <a:xfrm>
            <a:off x="1038125" y="817925"/>
            <a:ext cx="6708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Herramientas para la docencia ágil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tableros Kanban, herramientas de gestión de proyectos, plataformas de aprendizaje en línea, etc.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Classroom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Kahoot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Moodle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/>
          <p:nvPr/>
        </p:nvSpPr>
        <p:spPr>
          <a:xfrm>
            <a:off x="2493750" y="311575"/>
            <a:ext cx="415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/>
              <a:t>Preguntas</a:t>
            </a:r>
            <a:endParaRPr b="1" sz="1700"/>
          </a:p>
        </p:txBody>
      </p:sp>
      <p:pic>
        <p:nvPicPr>
          <p:cNvPr id="280" name="Google Shape;2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175" y="1146625"/>
            <a:ext cx="4668975" cy="31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V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6" name="Google Shape;286;p51"/>
          <p:cNvSpPr txBox="1"/>
          <p:nvPr/>
        </p:nvSpPr>
        <p:spPr>
          <a:xfrm>
            <a:off x="967325" y="1085325"/>
            <a:ext cx="6708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Evaluación y retroalimentación ágil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Explorar </a:t>
            </a:r>
            <a:r>
              <a:rPr lang="es" sz="1800">
                <a:solidFill>
                  <a:schemeClr val="dk1"/>
                </a:solidFill>
              </a:rPr>
              <a:t>técnicas para evaluar y dar retroalimentación de manera ágil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Uso de la revisión por pares, la retroalimentación inmediata y la retroalimentación constante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/>
        </p:nvSpPr>
        <p:spPr>
          <a:xfrm>
            <a:off x="899900" y="410900"/>
            <a:ext cx="67086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</a:rPr>
              <a:t>Explorar técnicas para evaluar y dar retroalimentación de manera ágil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1. "5 técnicas para dar retroalimentación ágil y efectiva": Este artículo proporciona cinco técnicas para brindar retroalimentación ágil y efectiva, incluyendo el modelo SBI (Situación, Comportamiento, Impacto) y la técnica del "Elogio, Aprendizaje, Elogio". Puedes leerlo en el siguiente enlace: https://www.zengerfolkman.com/es/5-tecnicas-para-dar-retroalimentacion-agil-y-efectiva/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2. "Cómo dar retroalimentación efectiva en tiempo real": Este recurso ofrece consejos prácticos para proporcionar retroalimentación de manera ágil y en tiempo real. Explora diferentes enfoques, como el uso de preguntas abiertas y el establecimiento de expectativas claras. Puedes acceder al artículo aquí: https://www.td.org/insights/how-to-deliver-effective-feedback-in-real-time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3. "Feedback ágil: cómo hacerlo en tu equipo": Este artículo se centra en cómo implementar el feedback ágil en un equipo de trabajo. Presenta técnicas y estrategias para dar retroalimentación continua y específica, así como para fomentar una cultura de aprendizaje. Puedes encontrar más información en este enlace: https://www.expansion.com/emprendedores-empleo/empleo/2018/03/29/5abab7e3468aeb9b0a8b4574.html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Recuerda que cada contexto puede requerir enfoques y técnicas diferentes, por lo que es importante adaptar estas técnicas según tus necesidades y las de tus alumnos o colaboradores.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/>
          <p:nvPr/>
        </p:nvSpPr>
        <p:spPr>
          <a:xfrm>
            <a:off x="832450" y="512075"/>
            <a:ext cx="6708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</a:rPr>
              <a:t>Uso de la revisión por pares, la retroalimentación inmediata y la retroalimentación constante</a:t>
            </a:r>
            <a:endParaRPr b="1" sz="9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El uso de la revisión por pares, la retroalimentación inmediata y la retroalimentación constante son prácticas comunes en la docencia y la educación. A continuación, te proporcionaré algunos enlaces a páginas web donde puedes encontrar información adicional sobre estos temas: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1. Revisión por pares: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revisión por pares: qué es y cómo funciona": https://www.editage.com/insights/what-is-peer-review-and-how-does-it-work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revisión por pares: una guía para autores": https://www.elsevier.com/es-es/research-intelligence/resources/key-topics-in-research-management/peer-review-guide-for-authors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2. Retroalimentación inmediata: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"El poder de la retroalimentación inmediata en el aprendizaje": https://elearningindustry.es/retroalimentacion-inmediata-en-aprendizaje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retroalimentación inmediata y su impacto en el aprendizaje": https://www.itesm.mx/va/dide2/retroalimentacion_inmediata.html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chemeClr val="dk1"/>
                </a:solidFill>
              </a:rPr>
              <a:t>3. Retroalimentación constante:</a:t>
            </a:r>
            <a:endParaRPr b="1"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1"/>
                </a:solidFill>
              </a:rPr>
              <a:t>- "La importancia de la retroalimentación constante en el aula": https://innovacioneducativa.upnvirtual.edu.mx/index.php/articulos/32-articulos/no-6/47-la-importancia-de-la-retroalimentacion-constante-en-el-aula- "La retroalimentación constante en el proceso de aprendizaje": https://www.udemy.com/blog/es/retroalimentacion-constante/</a:t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4"/>
          <p:cNvSpPr txBox="1"/>
          <p:nvPr/>
        </p:nvSpPr>
        <p:spPr>
          <a:xfrm>
            <a:off x="3224500" y="429500"/>
            <a:ext cx="210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Sección</a:t>
            </a:r>
            <a:r>
              <a:rPr b="1" lang="es" sz="1900"/>
              <a:t> VI</a:t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2" name="Google Shape;302;p54"/>
          <p:cNvSpPr txBox="1"/>
          <p:nvPr/>
        </p:nvSpPr>
        <p:spPr>
          <a:xfrm>
            <a:off x="967325" y="1085325"/>
            <a:ext cx="6708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Mejora continua en la docencia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Principio de mejora continua en la docencia, mediante la recolección constante de retroalimentación y datos de evaluación, y la aplicación de estos datos en la mejora del proceso de enseñanza-aprendizaje.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Cierre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 txBox="1"/>
          <p:nvPr/>
        </p:nvSpPr>
        <p:spPr>
          <a:xfrm>
            <a:off x="533175" y="306575"/>
            <a:ext cx="8037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"Mejora continua en la docencia: la importancia de la retroalimentación y la evaluación":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https://www.razonamientoclinico.es/mejora-continua-docencia-importancia-retroalimentacion-evaluacion/</a:t>
            </a:r>
            <a:br>
              <a:rPr lang="es"/>
            </a:br>
            <a:br>
              <a:rPr lang="e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"La mejora continua en la docencia: recolección y análisis de datos":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 </a:t>
            </a:r>
            <a:r>
              <a:rPr lang="es" u="sng">
                <a:solidFill>
                  <a:schemeClr val="hlink"/>
                </a:solidFill>
                <a:hlinkClick r:id="rId4"/>
              </a:rPr>
              <a:t>https://campusvirtual.unex.es/bbcswebdav/pid-2750975-dt-content-rid-9502653_1/courses/19-20/IN59D5-IUUD8-Docencia%20en%20contenidos%20digitales/Teoria/sesion_5.pdf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"El papel de la retroalimentación en la mejora continua de la enseñanza":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Enlace:</a:t>
            </a:r>
            <a:r>
              <a:rPr lang="es"/>
              <a:t> </a:t>
            </a:r>
            <a:r>
              <a:rPr lang="es" u="sng">
                <a:solidFill>
                  <a:schemeClr val="hlink"/>
                </a:solidFill>
                <a:hlinkClick r:id="rId5"/>
              </a:rPr>
              <a:t>https://www.unir.net/educacion/revista/noticias/el-papel-de-la-retroalimentacion-en-la-mejora-continua-de-la-ensenanza/406574198798/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/>
        </p:nvSpPr>
        <p:spPr>
          <a:xfrm>
            <a:off x="560775" y="805450"/>
            <a:ext cx="7651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"Mejora continua en la docencia: cómo utilizar los datos de evaluación":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https://www.educoas.org/portal/bdigital/contenido/val/val_95/Mejora_continua_en_la_docencia.pdf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"La importancia de la retroalimentación en el proceso de enseñanza-aprendizaje":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https://educacion2.com/importancia-de-la-retroalimentacion-en-el-proceso-de-ensenanza-aprendizaje/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"Curso: Metodologías ágiles para la educación - Sesión 1": </a:t>
            </a:r>
            <a:r>
              <a:rPr lang="es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https://www.youtube.com/live/OZeDMK3Hc4c?si=f8CXUUFZlv_K01G0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Curso: Metodologías ágiles para la educación - Sesión 4 : </a:t>
            </a:r>
            <a:r>
              <a:rPr lang="es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https://www.youtube.com/live/S9BUjJw_RHY?si=ig4js2U9ocqYdnRw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7"/>
          <p:cNvSpPr txBox="1"/>
          <p:nvPr/>
        </p:nvSpPr>
        <p:spPr>
          <a:xfrm>
            <a:off x="788675" y="897450"/>
            <a:ext cx="7054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318" name="Google Shape;3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525" y="312275"/>
            <a:ext cx="4563825" cy="31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7"/>
          <p:cNvSpPr txBox="1"/>
          <p:nvPr/>
        </p:nvSpPr>
        <p:spPr>
          <a:xfrm>
            <a:off x="788675" y="4212475"/>
            <a:ext cx="787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Contacto: </a:t>
            </a:r>
            <a:r>
              <a:rPr lang="es" sz="1800" u="sng">
                <a:solidFill>
                  <a:schemeClr val="hlink"/>
                </a:solidFill>
                <a:hlinkClick r:id="rId4"/>
              </a:rPr>
              <a:t>https://www.linkedin.com/in/marlenis-judith-c-561117a3/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